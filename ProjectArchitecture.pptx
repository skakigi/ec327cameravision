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4"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188" y="1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2E344-8929-C345-7F49-4B076187F5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D4E015-3A6C-1AC6-F34D-8F14CDAC00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DD6C8A-CBA6-CD9B-2EE0-0E8503A5847B}"/>
              </a:ext>
            </a:extLst>
          </p:cNvPr>
          <p:cNvSpPr>
            <a:spLocks noGrp="1"/>
          </p:cNvSpPr>
          <p:nvPr>
            <p:ph type="dt" sz="half" idx="10"/>
          </p:nvPr>
        </p:nvSpPr>
        <p:spPr/>
        <p:txBody>
          <a:bodyPr/>
          <a:lstStyle/>
          <a:p>
            <a:fld id="{A95B1D2A-CA32-4817-8FC8-BE3BE70D5126}" type="datetimeFigureOut">
              <a:rPr lang="en-US" smtClean="0"/>
              <a:t>12/12/2022</a:t>
            </a:fld>
            <a:endParaRPr lang="en-US"/>
          </a:p>
        </p:txBody>
      </p:sp>
      <p:sp>
        <p:nvSpPr>
          <p:cNvPr id="5" name="Footer Placeholder 4">
            <a:extLst>
              <a:ext uri="{FF2B5EF4-FFF2-40B4-BE49-F238E27FC236}">
                <a16:creationId xmlns:a16="http://schemas.microsoft.com/office/drawing/2014/main" id="{74EBD4C0-16F7-D623-654B-6322B46043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40571F-A525-A5F9-C021-04E57752C79B}"/>
              </a:ext>
            </a:extLst>
          </p:cNvPr>
          <p:cNvSpPr>
            <a:spLocks noGrp="1"/>
          </p:cNvSpPr>
          <p:nvPr>
            <p:ph type="sldNum" sz="quarter" idx="12"/>
          </p:nvPr>
        </p:nvSpPr>
        <p:spPr/>
        <p:txBody>
          <a:bodyPr/>
          <a:lstStyle/>
          <a:p>
            <a:fld id="{F710BD69-8842-4E15-9FEF-C3CE3459C53E}" type="slidenum">
              <a:rPr lang="en-US" smtClean="0"/>
              <a:t>‹#›</a:t>
            </a:fld>
            <a:endParaRPr lang="en-US"/>
          </a:p>
        </p:txBody>
      </p:sp>
    </p:spTree>
    <p:extLst>
      <p:ext uri="{BB962C8B-B14F-4D97-AF65-F5344CB8AC3E}">
        <p14:creationId xmlns:p14="http://schemas.microsoft.com/office/powerpoint/2010/main" val="1342352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73E3F-8BC7-7E7D-D674-649EB0E29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2A7CD4-CD51-34A0-EFA5-D69019BF9F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959AF0-53CD-2328-98AC-C6C8B005516B}"/>
              </a:ext>
            </a:extLst>
          </p:cNvPr>
          <p:cNvSpPr>
            <a:spLocks noGrp="1"/>
          </p:cNvSpPr>
          <p:nvPr>
            <p:ph type="dt" sz="half" idx="10"/>
          </p:nvPr>
        </p:nvSpPr>
        <p:spPr/>
        <p:txBody>
          <a:bodyPr/>
          <a:lstStyle/>
          <a:p>
            <a:fld id="{A95B1D2A-CA32-4817-8FC8-BE3BE70D5126}" type="datetimeFigureOut">
              <a:rPr lang="en-US" smtClean="0"/>
              <a:t>12/12/2022</a:t>
            </a:fld>
            <a:endParaRPr lang="en-US"/>
          </a:p>
        </p:txBody>
      </p:sp>
      <p:sp>
        <p:nvSpPr>
          <p:cNvPr id="5" name="Footer Placeholder 4">
            <a:extLst>
              <a:ext uri="{FF2B5EF4-FFF2-40B4-BE49-F238E27FC236}">
                <a16:creationId xmlns:a16="http://schemas.microsoft.com/office/drawing/2014/main" id="{A8B91212-9C06-9011-FEA6-E1D43603E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273E38-AB0E-626E-2E56-9E99907648D4}"/>
              </a:ext>
            </a:extLst>
          </p:cNvPr>
          <p:cNvSpPr>
            <a:spLocks noGrp="1"/>
          </p:cNvSpPr>
          <p:nvPr>
            <p:ph type="sldNum" sz="quarter" idx="12"/>
          </p:nvPr>
        </p:nvSpPr>
        <p:spPr/>
        <p:txBody>
          <a:bodyPr/>
          <a:lstStyle/>
          <a:p>
            <a:fld id="{F710BD69-8842-4E15-9FEF-C3CE3459C53E}" type="slidenum">
              <a:rPr lang="en-US" smtClean="0"/>
              <a:t>‹#›</a:t>
            </a:fld>
            <a:endParaRPr lang="en-US"/>
          </a:p>
        </p:txBody>
      </p:sp>
    </p:spTree>
    <p:extLst>
      <p:ext uri="{BB962C8B-B14F-4D97-AF65-F5344CB8AC3E}">
        <p14:creationId xmlns:p14="http://schemas.microsoft.com/office/powerpoint/2010/main" val="111572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1F664-B226-EFB3-40B9-E1448308D5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AF8C00-ECE3-18EC-FEDE-5BECF271E8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9F92F8-329B-2110-23FD-41A546EEE4BB}"/>
              </a:ext>
            </a:extLst>
          </p:cNvPr>
          <p:cNvSpPr>
            <a:spLocks noGrp="1"/>
          </p:cNvSpPr>
          <p:nvPr>
            <p:ph type="dt" sz="half" idx="10"/>
          </p:nvPr>
        </p:nvSpPr>
        <p:spPr/>
        <p:txBody>
          <a:bodyPr/>
          <a:lstStyle/>
          <a:p>
            <a:fld id="{A95B1D2A-CA32-4817-8FC8-BE3BE70D5126}" type="datetimeFigureOut">
              <a:rPr lang="en-US" smtClean="0"/>
              <a:t>12/12/2022</a:t>
            </a:fld>
            <a:endParaRPr lang="en-US"/>
          </a:p>
        </p:txBody>
      </p:sp>
      <p:sp>
        <p:nvSpPr>
          <p:cNvPr id="5" name="Footer Placeholder 4">
            <a:extLst>
              <a:ext uri="{FF2B5EF4-FFF2-40B4-BE49-F238E27FC236}">
                <a16:creationId xmlns:a16="http://schemas.microsoft.com/office/drawing/2014/main" id="{20B05F4B-9C76-5D00-8D26-10E08CC986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947A2C-A6D6-1D90-7686-9CAE329B0063}"/>
              </a:ext>
            </a:extLst>
          </p:cNvPr>
          <p:cNvSpPr>
            <a:spLocks noGrp="1"/>
          </p:cNvSpPr>
          <p:nvPr>
            <p:ph type="sldNum" sz="quarter" idx="12"/>
          </p:nvPr>
        </p:nvSpPr>
        <p:spPr/>
        <p:txBody>
          <a:bodyPr/>
          <a:lstStyle/>
          <a:p>
            <a:fld id="{F710BD69-8842-4E15-9FEF-C3CE3459C53E}" type="slidenum">
              <a:rPr lang="en-US" smtClean="0"/>
              <a:t>‹#›</a:t>
            </a:fld>
            <a:endParaRPr lang="en-US"/>
          </a:p>
        </p:txBody>
      </p:sp>
    </p:spTree>
    <p:extLst>
      <p:ext uri="{BB962C8B-B14F-4D97-AF65-F5344CB8AC3E}">
        <p14:creationId xmlns:p14="http://schemas.microsoft.com/office/powerpoint/2010/main" val="3207195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A4A10-AA7F-E06C-41AA-28B845FC7E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F8E539-CA74-EB7F-270E-B002E8C84D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A5985D-F16A-464D-A224-15C4B1F43E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D5CE75-776C-D0DC-F3F4-1DD319565559}"/>
              </a:ext>
            </a:extLst>
          </p:cNvPr>
          <p:cNvSpPr>
            <a:spLocks noGrp="1"/>
          </p:cNvSpPr>
          <p:nvPr>
            <p:ph type="dt" sz="half" idx="10"/>
          </p:nvPr>
        </p:nvSpPr>
        <p:spPr/>
        <p:txBody>
          <a:bodyPr/>
          <a:lstStyle/>
          <a:p>
            <a:fld id="{A95B1D2A-CA32-4817-8FC8-BE3BE70D5126}" type="datetimeFigureOut">
              <a:rPr lang="en-US" smtClean="0"/>
              <a:t>12/12/2022</a:t>
            </a:fld>
            <a:endParaRPr lang="en-US"/>
          </a:p>
        </p:txBody>
      </p:sp>
      <p:sp>
        <p:nvSpPr>
          <p:cNvPr id="6" name="Footer Placeholder 5">
            <a:extLst>
              <a:ext uri="{FF2B5EF4-FFF2-40B4-BE49-F238E27FC236}">
                <a16:creationId xmlns:a16="http://schemas.microsoft.com/office/drawing/2014/main" id="{ADB00A5E-1407-B765-F37B-3E8C1E106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509A1F-E054-645F-46B3-832F8A237FAF}"/>
              </a:ext>
            </a:extLst>
          </p:cNvPr>
          <p:cNvSpPr>
            <a:spLocks noGrp="1"/>
          </p:cNvSpPr>
          <p:nvPr>
            <p:ph type="sldNum" sz="quarter" idx="12"/>
          </p:nvPr>
        </p:nvSpPr>
        <p:spPr/>
        <p:txBody>
          <a:bodyPr/>
          <a:lstStyle/>
          <a:p>
            <a:fld id="{F710BD69-8842-4E15-9FEF-C3CE3459C53E}" type="slidenum">
              <a:rPr lang="en-US" smtClean="0"/>
              <a:t>‹#›</a:t>
            </a:fld>
            <a:endParaRPr lang="en-US"/>
          </a:p>
        </p:txBody>
      </p:sp>
    </p:spTree>
    <p:extLst>
      <p:ext uri="{BB962C8B-B14F-4D97-AF65-F5344CB8AC3E}">
        <p14:creationId xmlns:p14="http://schemas.microsoft.com/office/powerpoint/2010/main" val="2060418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A2CD0-4DCD-506C-CBB2-9D873CC211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F08F41-03E5-A030-F983-B784A58B9D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E75A93-7363-C77B-BB0D-36C9E42B15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9A4538-9BD7-7E33-63AA-2297CE172A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037F19-7FD9-2641-0808-830AB4FB7C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2E724C8-0FF4-D85F-E3E7-325DA8D8939B}"/>
              </a:ext>
            </a:extLst>
          </p:cNvPr>
          <p:cNvSpPr>
            <a:spLocks noGrp="1"/>
          </p:cNvSpPr>
          <p:nvPr>
            <p:ph type="dt" sz="half" idx="10"/>
          </p:nvPr>
        </p:nvSpPr>
        <p:spPr/>
        <p:txBody>
          <a:bodyPr/>
          <a:lstStyle/>
          <a:p>
            <a:fld id="{A95B1D2A-CA32-4817-8FC8-BE3BE70D5126}" type="datetimeFigureOut">
              <a:rPr lang="en-US" smtClean="0"/>
              <a:t>12/12/2022</a:t>
            </a:fld>
            <a:endParaRPr lang="en-US"/>
          </a:p>
        </p:txBody>
      </p:sp>
      <p:sp>
        <p:nvSpPr>
          <p:cNvPr id="8" name="Footer Placeholder 7">
            <a:extLst>
              <a:ext uri="{FF2B5EF4-FFF2-40B4-BE49-F238E27FC236}">
                <a16:creationId xmlns:a16="http://schemas.microsoft.com/office/drawing/2014/main" id="{FB1A8F3C-0D13-C6F8-18EC-28211E57DF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90881B-2936-C36A-8B07-1784509EE1D8}"/>
              </a:ext>
            </a:extLst>
          </p:cNvPr>
          <p:cNvSpPr>
            <a:spLocks noGrp="1"/>
          </p:cNvSpPr>
          <p:nvPr>
            <p:ph type="sldNum" sz="quarter" idx="12"/>
          </p:nvPr>
        </p:nvSpPr>
        <p:spPr/>
        <p:txBody>
          <a:bodyPr/>
          <a:lstStyle/>
          <a:p>
            <a:fld id="{F710BD69-8842-4E15-9FEF-C3CE3459C53E}" type="slidenum">
              <a:rPr lang="en-US" smtClean="0"/>
              <a:t>‹#›</a:t>
            </a:fld>
            <a:endParaRPr lang="en-US"/>
          </a:p>
        </p:txBody>
      </p:sp>
    </p:spTree>
    <p:extLst>
      <p:ext uri="{BB962C8B-B14F-4D97-AF65-F5344CB8AC3E}">
        <p14:creationId xmlns:p14="http://schemas.microsoft.com/office/powerpoint/2010/main" val="2182366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F5320-7EC2-4319-F884-D2F534591A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6F6AEE-F9D4-9DF5-9854-FCB91E580211}"/>
              </a:ext>
            </a:extLst>
          </p:cNvPr>
          <p:cNvSpPr>
            <a:spLocks noGrp="1"/>
          </p:cNvSpPr>
          <p:nvPr>
            <p:ph type="dt" sz="half" idx="10"/>
          </p:nvPr>
        </p:nvSpPr>
        <p:spPr/>
        <p:txBody>
          <a:bodyPr/>
          <a:lstStyle/>
          <a:p>
            <a:fld id="{A95B1D2A-CA32-4817-8FC8-BE3BE70D5126}" type="datetimeFigureOut">
              <a:rPr lang="en-US" smtClean="0"/>
              <a:t>12/12/2022</a:t>
            </a:fld>
            <a:endParaRPr lang="en-US"/>
          </a:p>
        </p:txBody>
      </p:sp>
      <p:sp>
        <p:nvSpPr>
          <p:cNvPr id="4" name="Footer Placeholder 3">
            <a:extLst>
              <a:ext uri="{FF2B5EF4-FFF2-40B4-BE49-F238E27FC236}">
                <a16:creationId xmlns:a16="http://schemas.microsoft.com/office/drawing/2014/main" id="{20C65A02-EFA2-0939-748E-E3C3378EB6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323847-D038-1432-CAD5-00FD03CBBEA9}"/>
              </a:ext>
            </a:extLst>
          </p:cNvPr>
          <p:cNvSpPr>
            <a:spLocks noGrp="1"/>
          </p:cNvSpPr>
          <p:nvPr>
            <p:ph type="sldNum" sz="quarter" idx="12"/>
          </p:nvPr>
        </p:nvSpPr>
        <p:spPr/>
        <p:txBody>
          <a:bodyPr/>
          <a:lstStyle/>
          <a:p>
            <a:fld id="{F710BD69-8842-4E15-9FEF-C3CE3459C53E}" type="slidenum">
              <a:rPr lang="en-US" smtClean="0"/>
              <a:t>‹#›</a:t>
            </a:fld>
            <a:endParaRPr lang="en-US"/>
          </a:p>
        </p:txBody>
      </p:sp>
    </p:spTree>
    <p:extLst>
      <p:ext uri="{BB962C8B-B14F-4D97-AF65-F5344CB8AC3E}">
        <p14:creationId xmlns:p14="http://schemas.microsoft.com/office/powerpoint/2010/main" val="748541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DC05C0-F49E-BE7E-5D48-82153ADE1554}"/>
              </a:ext>
            </a:extLst>
          </p:cNvPr>
          <p:cNvSpPr>
            <a:spLocks noGrp="1"/>
          </p:cNvSpPr>
          <p:nvPr>
            <p:ph type="dt" sz="half" idx="10"/>
          </p:nvPr>
        </p:nvSpPr>
        <p:spPr/>
        <p:txBody>
          <a:bodyPr/>
          <a:lstStyle/>
          <a:p>
            <a:fld id="{A95B1D2A-CA32-4817-8FC8-BE3BE70D5126}" type="datetimeFigureOut">
              <a:rPr lang="en-US" smtClean="0"/>
              <a:t>12/12/2022</a:t>
            </a:fld>
            <a:endParaRPr lang="en-US"/>
          </a:p>
        </p:txBody>
      </p:sp>
      <p:sp>
        <p:nvSpPr>
          <p:cNvPr id="3" name="Footer Placeholder 2">
            <a:extLst>
              <a:ext uri="{FF2B5EF4-FFF2-40B4-BE49-F238E27FC236}">
                <a16:creationId xmlns:a16="http://schemas.microsoft.com/office/drawing/2014/main" id="{B3A3A800-50FA-D5DE-3873-4D21D2B4AC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CC05A6-B6BC-312A-3212-00B4C31110CB}"/>
              </a:ext>
            </a:extLst>
          </p:cNvPr>
          <p:cNvSpPr>
            <a:spLocks noGrp="1"/>
          </p:cNvSpPr>
          <p:nvPr>
            <p:ph type="sldNum" sz="quarter" idx="12"/>
          </p:nvPr>
        </p:nvSpPr>
        <p:spPr/>
        <p:txBody>
          <a:bodyPr/>
          <a:lstStyle/>
          <a:p>
            <a:fld id="{F710BD69-8842-4E15-9FEF-C3CE3459C53E}" type="slidenum">
              <a:rPr lang="en-US" smtClean="0"/>
              <a:t>‹#›</a:t>
            </a:fld>
            <a:endParaRPr lang="en-US"/>
          </a:p>
        </p:txBody>
      </p:sp>
    </p:spTree>
    <p:extLst>
      <p:ext uri="{BB962C8B-B14F-4D97-AF65-F5344CB8AC3E}">
        <p14:creationId xmlns:p14="http://schemas.microsoft.com/office/powerpoint/2010/main" val="2988494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56097-7882-BCC8-0534-E704F59BD9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7ACE3C5-6BBF-8D3F-A34A-C65FF316E8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61BF09-0ACE-B966-AE4F-1524C59401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A1CA38-FB91-7AD6-A023-D191E170A03A}"/>
              </a:ext>
            </a:extLst>
          </p:cNvPr>
          <p:cNvSpPr>
            <a:spLocks noGrp="1"/>
          </p:cNvSpPr>
          <p:nvPr>
            <p:ph type="dt" sz="half" idx="10"/>
          </p:nvPr>
        </p:nvSpPr>
        <p:spPr/>
        <p:txBody>
          <a:bodyPr/>
          <a:lstStyle/>
          <a:p>
            <a:fld id="{A95B1D2A-CA32-4817-8FC8-BE3BE70D5126}" type="datetimeFigureOut">
              <a:rPr lang="en-US" smtClean="0"/>
              <a:t>12/12/2022</a:t>
            </a:fld>
            <a:endParaRPr lang="en-US"/>
          </a:p>
        </p:txBody>
      </p:sp>
      <p:sp>
        <p:nvSpPr>
          <p:cNvPr id="6" name="Footer Placeholder 5">
            <a:extLst>
              <a:ext uri="{FF2B5EF4-FFF2-40B4-BE49-F238E27FC236}">
                <a16:creationId xmlns:a16="http://schemas.microsoft.com/office/drawing/2014/main" id="{61F874A2-A4D0-6061-67B6-6F843E8BEB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0BB476-167C-5273-7007-37C84F69C556}"/>
              </a:ext>
            </a:extLst>
          </p:cNvPr>
          <p:cNvSpPr>
            <a:spLocks noGrp="1"/>
          </p:cNvSpPr>
          <p:nvPr>
            <p:ph type="sldNum" sz="quarter" idx="12"/>
          </p:nvPr>
        </p:nvSpPr>
        <p:spPr/>
        <p:txBody>
          <a:bodyPr/>
          <a:lstStyle/>
          <a:p>
            <a:fld id="{F710BD69-8842-4E15-9FEF-C3CE3459C53E}" type="slidenum">
              <a:rPr lang="en-US" smtClean="0"/>
              <a:t>‹#›</a:t>
            </a:fld>
            <a:endParaRPr lang="en-US"/>
          </a:p>
        </p:txBody>
      </p:sp>
    </p:spTree>
    <p:extLst>
      <p:ext uri="{BB962C8B-B14F-4D97-AF65-F5344CB8AC3E}">
        <p14:creationId xmlns:p14="http://schemas.microsoft.com/office/powerpoint/2010/main" val="3598228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54AE2-54A7-18E1-56B4-9FFBDC9621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9DDE4A-8DF4-C98A-7959-A82293C450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6C9DBC-A211-5303-81DB-039E09ED3F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5D6878-6983-4EF4-9CB8-F69BF95B6405}"/>
              </a:ext>
            </a:extLst>
          </p:cNvPr>
          <p:cNvSpPr>
            <a:spLocks noGrp="1"/>
          </p:cNvSpPr>
          <p:nvPr>
            <p:ph type="dt" sz="half" idx="10"/>
          </p:nvPr>
        </p:nvSpPr>
        <p:spPr/>
        <p:txBody>
          <a:bodyPr/>
          <a:lstStyle/>
          <a:p>
            <a:fld id="{A95B1D2A-CA32-4817-8FC8-BE3BE70D5126}" type="datetimeFigureOut">
              <a:rPr lang="en-US" smtClean="0"/>
              <a:t>12/12/2022</a:t>
            </a:fld>
            <a:endParaRPr lang="en-US"/>
          </a:p>
        </p:txBody>
      </p:sp>
      <p:sp>
        <p:nvSpPr>
          <p:cNvPr id="6" name="Footer Placeholder 5">
            <a:extLst>
              <a:ext uri="{FF2B5EF4-FFF2-40B4-BE49-F238E27FC236}">
                <a16:creationId xmlns:a16="http://schemas.microsoft.com/office/drawing/2014/main" id="{FDE45B40-5557-F9B7-44EC-B571E2546A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1AEB03-D1BB-56AE-5A2C-47EC16E6DF4C}"/>
              </a:ext>
            </a:extLst>
          </p:cNvPr>
          <p:cNvSpPr>
            <a:spLocks noGrp="1"/>
          </p:cNvSpPr>
          <p:nvPr>
            <p:ph type="sldNum" sz="quarter" idx="12"/>
          </p:nvPr>
        </p:nvSpPr>
        <p:spPr/>
        <p:txBody>
          <a:bodyPr/>
          <a:lstStyle/>
          <a:p>
            <a:fld id="{F710BD69-8842-4E15-9FEF-C3CE3459C53E}" type="slidenum">
              <a:rPr lang="en-US" smtClean="0"/>
              <a:t>‹#›</a:t>
            </a:fld>
            <a:endParaRPr lang="en-US"/>
          </a:p>
        </p:txBody>
      </p:sp>
    </p:spTree>
    <p:extLst>
      <p:ext uri="{BB962C8B-B14F-4D97-AF65-F5344CB8AC3E}">
        <p14:creationId xmlns:p14="http://schemas.microsoft.com/office/powerpoint/2010/main" val="3514981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28FD2-882B-AD58-3D39-F11B53CF8C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3A6250-15BC-6E2E-8453-15422C9C1A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D2BC87-E0C6-15D8-ED7B-70CA13EAEE5C}"/>
              </a:ext>
            </a:extLst>
          </p:cNvPr>
          <p:cNvSpPr>
            <a:spLocks noGrp="1"/>
          </p:cNvSpPr>
          <p:nvPr>
            <p:ph type="dt" sz="half" idx="10"/>
          </p:nvPr>
        </p:nvSpPr>
        <p:spPr/>
        <p:txBody>
          <a:bodyPr/>
          <a:lstStyle/>
          <a:p>
            <a:fld id="{A95B1D2A-CA32-4817-8FC8-BE3BE70D5126}" type="datetimeFigureOut">
              <a:rPr lang="en-US" smtClean="0"/>
              <a:t>12/12/2022</a:t>
            </a:fld>
            <a:endParaRPr lang="en-US"/>
          </a:p>
        </p:txBody>
      </p:sp>
      <p:sp>
        <p:nvSpPr>
          <p:cNvPr id="5" name="Footer Placeholder 4">
            <a:extLst>
              <a:ext uri="{FF2B5EF4-FFF2-40B4-BE49-F238E27FC236}">
                <a16:creationId xmlns:a16="http://schemas.microsoft.com/office/drawing/2014/main" id="{201BD1FA-0D59-D3E5-EAA9-8DBA12463F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C235F3-BB0E-3A36-DD1D-686B22679B1C}"/>
              </a:ext>
            </a:extLst>
          </p:cNvPr>
          <p:cNvSpPr>
            <a:spLocks noGrp="1"/>
          </p:cNvSpPr>
          <p:nvPr>
            <p:ph type="sldNum" sz="quarter" idx="12"/>
          </p:nvPr>
        </p:nvSpPr>
        <p:spPr/>
        <p:txBody>
          <a:bodyPr/>
          <a:lstStyle/>
          <a:p>
            <a:fld id="{F710BD69-8842-4E15-9FEF-C3CE3459C53E}" type="slidenum">
              <a:rPr lang="en-US" smtClean="0"/>
              <a:t>‹#›</a:t>
            </a:fld>
            <a:endParaRPr lang="en-US"/>
          </a:p>
        </p:txBody>
      </p:sp>
    </p:spTree>
    <p:extLst>
      <p:ext uri="{BB962C8B-B14F-4D97-AF65-F5344CB8AC3E}">
        <p14:creationId xmlns:p14="http://schemas.microsoft.com/office/powerpoint/2010/main" val="3866333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CD7016-D7F8-0BED-68A9-FEABCF88A5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5666CF-3692-004E-3CD4-1D30B51472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172911-447A-7758-BE3B-DBA551C62BA7}"/>
              </a:ext>
            </a:extLst>
          </p:cNvPr>
          <p:cNvSpPr>
            <a:spLocks noGrp="1"/>
          </p:cNvSpPr>
          <p:nvPr>
            <p:ph type="dt" sz="half" idx="10"/>
          </p:nvPr>
        </p:nvSpPr>
        <p:spPr/>
        <p:txBody>
          <a:bodyPr/>
          <a:lstStyle/>
          <a:p>
            <a:fld id="{A95B1D2A-CA32-4817-8FC8-BE3BE70D5126}" type="datetimeFigureOut">
              <a:rPr lang="en-US" smtClean="0"/>
              <a:t>12/12/2022</a:t>
            </a:fld>
            <a:endParaRPr lang="en-US"/>
          </a:p>
        </p:txBody>
      </p:sp>
      <p:sp>
        <p:nvSpPr>
          <p:cNvPr id="5" name="Footer Placeholder 4">
            <a:extLst>
              <a:ext uri="{FF2B5EF4-FFF2-40B4-BE49-F238E27FC236}">
                <a16:creationId xmlns:a16="http://schemas.microsoft.com/office/drawing/2014/main" id="{4F9C8B90-273B-54E9-047E-7552819468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F3BC31-F902-3F98-CA35-AAA80B211368}"/>
              </a:ext>
            </a:extLst>
          </p:cNvPr>
          <p:cNvSpPr>
            <a:spLocks noGrp="1"/>
          </p:cNvSpPr>
          <p:nvPr>
            <p:ph type="sldNum" sz="quarter" idx="12"/>
          </p:nvPr>
        </p:nvSpPr>
        <p:spPr/>
        <p:txBody>
          <a:bodyPr/>
          <a:lstStyle/>
          <a:p>
            <a:fld id="{F710BD69-8842-4E15-9FEF-C3CE3459C53E}" type="slidenum">
              <a:rPr lang="en-US" smtClean="0"/>
              <a:t>‹#›</a:t>
            </a:fld>
            <a:endParaRPr lang="en-US"/>
          </a:p>
        </p:txBody>
      </p:sp>
    </p:spTree>
    <p:extLst>
      <p:ext uri="{BB962C8B-B14F-4D97-AF65-F5344CB8AC3E}">
        <p14:creationId xmlns:p14="http://schemas.microsoft.com/office/powerpoint/2010/main" val="4254772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E04373-0A39-F7FD-23A7-916B8C1B27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18C984-5DEB-F2D1-3A14-B6E7AC7498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DB0A48-A848-14D1-46D3-2F283384D3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5B1D2A-CA32-4817-8FC8-BE3BE70D5126}" type="datetimeFigureOut">
              <a:rPr lang="en-US" smtClean="0"/>
              <a:t>12/12/2022</a:t>
            </a:fld>
            <a:endParaRPr lang="en-US"/>
          </a:p>
        </p:txBody>
      </p:sp>
      <p:sp>
        <p:nvSpPr>
          <p:cNvPr id="5" name="Footer Placeholder 4">
            <a:extLst>
              <a:ext uri="{FF2B5EF4-FFF2-40B4-BE49-F238E27FC236}">
                <a16:creationId xmlns:a16="http://schemas.microsoft.com/office/drawing/2014/main" id="{E41A67CD-2BA7-35C2-4C32-012152124A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08F4DC-5D55-F22C-9C51-295BA5DC68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10BD69-8842-4E15-9FEF-C3CE3459C53E}" type="slidenum">
              <a:rPr lang="en-US" smtClean="0"/>
              <a:t>‹#›</a:t>
            </a:fld>
            <a:endParaRPr lang="en-US"/>
          </a:p>
        </p:txBody>
      </p:sp>
    </p:spTree>
    <p:extLst>
      <p:ext uri="{BB962C8B-B14F-4D97-AF65-F5344CB8AC3E}">
        <p14:creationId xmlns:p14="http://schemas.microsoft.com/office/powerpoint/2010/main" val="2342735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087BD-C0D2-E6D0-9217-88075AB160D2}"/>
              </a:ext>
            </a:extLst>
          </p:cNvPr>
          <p:cNvSpPr>
            <a:spLocks noGrp="1"/>
          </p:cNvSpPr>
          <p:nvPr>
            <p:ph type="ctrTitle"/>
          </p:nvPr>
        </p:nvSpPr>
        <p:spPr/>
        <p:txBody>
          <a:bodyPr/>
          <a:lstStyle/>
          <a:p>
            <a:r>
              <a:rPr lang="en-US" dirty="0"/>
              <a:t>Project Architecture</a:t>
            </a:r>
          </a:p>
        </p:txBody>
      </p:sp>
      <p:sp>
        <p:nvSpPr>
          <p:cNvPr id="3" name="Subtitle 2">
            <a:extLst>
              <a:ext uri="{FF2B5EF4-FFF2-40B4-BE49-F238E27FC236}">
                <a16:creationId xmlns:a16="http://schemas.microsoft.com/office/drawing/2014/main" id="{178C44B0-6CB7-9163-791F-689FA5A98F89}"/>
              </a:ext>
            </a:extLst>
          </p:cNvPr>
          <p:cNvSpPr>
            <a:spLocks noGrp="1"/>
          </p:cNvSpPr>
          <p:nvPr>
            <p:ph type="subTitle" idx="1"/>
          </p:nvPr>
        </p:nvSpPr>
        <p:spPr/>
        <p:txBody>
          <a:bodyPr/>
          <a:lstStyle/>
          <a:p>
            <a:r>
              <a:rPr lang="en-US" dirty="0"/>
              <a:t>Machine learning fruit identifier Android App.</a:t>
            </a:r>
          </a:p>
        </p:txBody>
      </p:sp>
    </p:spTree>
    <p:extLst>
      <p:ext uri="{BB962C8B-B14F-4D97-AF65-F5344CB8AC3E}">
        <p14:creationId xmlns:p14="http://schemas.microsoft.com/office/powerpoint/2010/main" val="311161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53C215F-7101-2758-1B99-FB5CCBA5C344}"/>
              </a:ext>
            </a:extLst>
          </p:cNvPr>
          <p:cNvSpPr>
            <a:spLocks noGrp="1"/>
          </p:cNvSpPr>
          <p:nvPr>
            <p:ph type="title"/>
          </p:nvPr>
        </p:nvSpPr>
        <p:spPr>
          <a:xfrm>
            <a:off x="643467" y="321734"/>
            <a:ext cx="10905066" cy="1135737"/>
          </a:xfrm>
        </p:spPr>
        <p:txBody>
          <a:bodyPr>
            <a:normAutofit/>
          </a:bodyPr>
          <a:lstStyle/>
          <a:p>
            <a:r>
              <a:rPr lang="en-US" sz="3600" dirty="0"/>
              <a:t>MATLAB general script</a:t>
            </a:r>
          </a:p>
        </p:txBody>
      </p:sp>
      <p:sp>
        <p:nvSpPr>
          <p:cNvPr id="9" name="Content Placeholder 8">
            <a:extLst>
              <a:ext uri="{FF2B5EF4-FFF2-40B4-BE49-F238E27FC236}">
                <a16:creationId xmlns:a16="http://schemas.microsoft.com/office/drawing/2014/main" id="{EADCC9F1-A673-CA8A-A452-B997406F68AF}"/>
              </a:ext>
            </a:extLst>
          </p:cNvPr>
          <p:cNvSpPr>
            <a:spLocks noGrp="1"/>
          </p:cNvSpPr>
          <p:nvPr>
            <p:ph idx="1"/>
          </p:nvPr>
        </p:nvSpPr>
        <p:spPr>
          <a:xfrm>
            <a:off x="643469" y="1782981"/>
            <a:ext cx="4008384" cy="4393982"/>
          </a:xfrm>
        </p:spPr>
        <p:txBody>
          <a:bodyPr>
            <a:normAutofit lnSpcReduction="10000"/>
          </a:bodyPr>
          <a:lstStyle/>
          <a:p>
            <a:r>
              <a:rPr lang="en-US" sz="1700" dirty="0"/>
              <a:t>The MATLAB portion was broken down into 2 parts, the primary script and the 2 functions used to calculate the average vectors of each dataset of images.</a:t>
            </a:r>
          </a:p>
          <a:p>
            <a:r>
              <a:rPr lang="en-US" sz="1700" dirty="0"/>
              <a:t>The primary code first took the read_matrices function to create a matrix of row vectors for each image and assigned them matrices.</a:t>
            </a:r>
          </a:p>
          <a:p>
            <a:r>
              <a:rPr lang="en-US" sz="1700" dirty="0" err="1"/>
              <a:t>Fruit_vector_average</a:t>
            </a:r>
            <a:r>
              <a:rPr lang="en-US" sz="1700" dirty="0"/>
              <a:t> then took these matrices and calculated the average vectors and created row vectors.</a:t>
            </a:r>
          </a:p>
          <a:p>
            <a:r>
              <a:rPr lang="en-US" sz="1700" dirty="0"/>
              <a:t>We convert the average vectors to int16 as it makes the java aspect easier, to do this we had to round.</a:t>
            </a:r>
          </a:p>
          <a:p>
            <a:r>
              <a:rPr lang="en-US" sz="1700" dirty="0" err="1"/>
              <a:t>Csvwrite</a:t>
            </a:r>
            <a:r>
              <a:rPr lang="en-US" sz="1700" dirty="0"/>
              <a:t> then converts these row vectors into csv files that can be read into other parts of our project for classification.</a:t>
            </a:r>
          </a:p>
        </p:txBody>
      </p:sp>
      <p:grpSp>
        <p:nvGrpSpPr>
          <p:cNvPr id="27" name="Group 26">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8" name="Isosceles Triangle 2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a:extLst>
              <a:ext uri="{FF2B5EF4-FFF2-40B4-BE49-F238E27FC236}">
                <a16:creationId xmlns:a16="http://schemas.microsoft.com/office/drawing/2014/main" id="{1D73DAC2-F78E-7D52-E245-9192A05C1F0C}"/>
              </a:ext>
            </a:extLst>
          </p:cNvPr>
          <p:cNvPicPr>
            <a:picLocks noChangeAspect="1"/>
          </p:cNvPicPr>
          <p:nvPr/>
        </p:nvPicPr>
        <p:blipFill>
          <a:blip r:embed="rId2"/>
          <a:stretch>
            <a:fillRect/>
          </a:stretch>
        </p:blipFill>
        <p:spPr>
          <a:xfrm>
            <a:off x="5295320" y="2911631"/>
            <a:ext cx="6253212" cy="2104592"/>
          </a:xfrm>
          <a:prstGeom prst="rect">
            <a:avLst/>
          </a:prstGeom>
        </p:spPr>
      </p:pic>
      <p:grpSp>
        <p:nvGrpSpPr>
          <p:cNvPr id="31" name="Group 30">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32" name="Rectangle 31">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518477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C4E4288A-DFC8-40A2-90E5-70E851A93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B63C2D82-D4FA-4A37-BB01-1E7B21E4FF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5199" y="634058"/>
            <a:ext cx="1128382" cy="847206"/>
            <a:chOff x="5307830" y="325570"/>
            <a:chExt cx="1128382" cy="847206"/>
          </a:xfrm>
        </p:grpSpPr>
        <p:sp>
          <p:nvSpPr>
            <p:cNvPr id="28" name="Freeform 5">
              <a:extLst>
                <a:ext uri="{FF2B5EF4-FFF2-40B4-BE49-F238E27FC236}">
                  <a16:creationId xmlns:a16="http://schemas.microsoft.com/office/drawing/2014/main" id="{C94E7FEF-0CE9-4AC2-94BB-02230C6DC0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07830" y="577396"/>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29" name="Freeform 5">
              <a:extLst>
                <a:ext uri="{FF2B5EF4-FFF2-40B4-BE49-F238E27FC236}">
                  <a16:creationId xmlns:a16="http://schemas.microsoft.com/office/drawing/2014/main" id="{EB546CC0-C1BC-48D2-8DA9-4B60283165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85720" y="325570"/>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F6D6A272-D1C9-5776-821B-64406E34E5C5}"/>
              </a:ext>
            </a:extLst>
          </p:cNvPr>
          <p:cNvSpPr>
            <a:spLocks noGrp="1"/>
          </p:cNvSpPr>
          <p:nvPr>
            <p:ph type="title"/>
          </p:nvPr>
        </p:nvSpPr>
        <p:spPr>
          <a:xfrm>
            <a:off x="965200" y="1371190"/>
            <a:ext cx="3363170" cy="2183042"/>
          </a:xfrm>
        </p:spPr>
        <p:txBody>
          <a:bodyPr anchor="b">
            <a:normAutofit/>
          </a:bodyPr>
          <a:lstStyle/>
          <a:p>
            <a:r>
              <a:rPr lang="en-US" sz="4000"/>
              <a:t>MATLAB read_matrices function</a:t>
            </a:r>
          </a:p>
        </p:txBody>
      </p:sp>
      <p:sp>
        <p:nvSpPr>
          <p:cNvPr id="31" name="Freeform 5">
            <a:extLst>
              <a:ext uri="{FF2B5EF4-FFF2-40B4-BE49-F238E27FC236}">
                <a16:creationId xmlns:a16="http://schemas.microsoft.com/office/drawing/2014/main" id="{BD2BFF02-DF78-4F07-B176-52514E131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062174" y="1653645"/>
            <a:ext cx="4689240" cy="411502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50800"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33" name="Freeform: Shape 32">
            <a:extLst>
              <a:ext uri="{FF2B5EF4-FFF2-40B4-BE49-F238E27FC236}">
                <a16:creationId xmlns:a16="http://schemas.microsoft.com/office/drawing/2014/main" id="{0DB06EAB-7D8C-403A-86C5-B5FD79A13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2865" y="634058"/>
            <a:ext cx="3154669" cy="2796247"/>
          </a:xfrm>
          <a:custGeom>
            <a:avLst/>
            <a:gdLst>
              <a:gd name="connsiteX0" fmla="*/ 853538 w 2991693"/>
              <a:gd name="connsiteY0" fmla="*/ 0 h 2651787"/>
              <a:gd name="connsiteX1" fmla="*/ 2141030 w 2991693"/>
              <a:gd name="connsiteY1" fmla="*/ 0 h 2651787"/>
              <a:gd name="connsiteX2" fmla="*/ 2324957 w 2991693"/>
              <a:gd name="connsiteY2" fmla="*/ 103466 h 2651787"/>
              <a:gd name="connsiteX3" fmla="*/ 2968702 w 2991693"/>
              <a:gd name="connsiteY3" fmla="*/ 1218596 h 2651787"/>
              <a:gd name="connsiteX4" fmla="*/ 2968702 w 2991693"/>
              <a:gd name="connsiteY4" fmla="*/ 1433192 h 2651787"/>
              <a:gd name="connsiteX5" fmla="*/ 2324957 w 2991693"/>
              <a:gd name="connsiteY5" fmla="*/ 2548321 h 2651787"/>
              <a:gd name="connsiteX6" fmla="*/ 2141030 w 2991693"/>
              <a:gd name="connsiteY6" fmla="*/ 2651787 h 2651787"/>
              <a:gd name="connsiteX7" fmla="*/ 853538 w 2991693"/>
              <a:gd name="connsiteY7" fmla="*/ 2651787 h 2651787"/>
              <a:gd name="connsiteX8" fmla="*/ 669612 w 2991693"/>
              <a:gd name="connsiteY8" fmla="*/ 2548321 h 2651787"/>
              <a:gd name="connsiteX9" fmla="*/ 25866 w 2991693"/>
              <a:gd name="connsiteY9" fmla="*/ 1433192 h 2651787"/>
              <a:gd name="connsiteX10" fmla="*/ 25866 w 2991693"/>
              <a:gd name="connsiteY10" fmla="*/ 1218596 h 2651787"/>
              <a:gd name="connsiteX11" fmla="*/ 669612 w 2991693"/>
              <a:gd name="connsiteY11" fmla="*/ 103466 h 2651787"/>
              <a:gd name="connsiteX12" fmla="*/ 853538 w 2991693"/>
              <a:gd name="connsiteY12" fmla="*/ 0 h 265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91693" h="2651787">
                <a:moveTo>
                  <a:pt x="853538" y="0"/>
                </a:moveTo>
                <a:cubicBezTo>
                  <a:pt x="2141030" y="0"/>
                  <a:pt x="2141030" y="0"/>
                  <a:pt x="2141030" y="0"/>
                </a:cubicBezTo>
                <a:cubicBezTo>
                  <a:pt x="2206170" y="0"/>
                  <a:pt x="2290471" y="45985"/>
                  <a:pt x="2324957" y="103466"/>
                </a:cubicBezTo>
                <a:cubicBezTo>
                  <a:pt x="2968702" y="1218596"/>
                  <a:pt x="2968702" y="1218596"/>
                  <a:pt x="2968702" y="1218596"/>
                </a:cubicBezTo>
                <a:cubicBezTo>
                  <a:pt x="2999357" y="1279909"/>
                  <a:pt x="2999357" y="1371878"/>
                  <a:pt x="2968702" y="1433192"/>
                </a:cubicBezTo>
                <a:cubicBezTo>
                  <a:pt x="2324957" y="2548321"/>
                  <a:pt x="2324957" y="2548321"/>
                  <a:pt x="2324957" y="2548321"/>
                </a:cubicBezTo>
                <a:cubicBezTo>
                  <a:pt x="2290471" y="2605803"/>
                  <a:pt x="2206170" y="2651787"/>
                  <a:pt x="2141030" y="2651787"/>
                </a:cubicBezTo>
                <a:lnTo>
                  <a:pt x="853538" y="2651787"/>
                </a:lnTo>
                <a:cubicBezTo>
                  <a:pt x="784566" y="2651787"/>
                  <a:pt x="700266" y="2605803"/>
                  <a:pt x="669612" y="2548321"/>
                </a:cubicBezTo>
                <a:cubicBezTo>
                  <a:pt x="25866" y="1433192"/>
                  <a:pt x="25866" y="1433192"/>
                  <a:pt x="25866" y="1433192"/>
                </a:cubicBezTo>
                <a:cubicBezTo>
                  <a:pt x="-8621" y="1371878"/>
                  <a:pt x="-8621" y="1279909"/>
                  <a:pt x="25866" y="1218596"/>
                </a:cubicBezTo>
                <a:cubicBezTo>
                  <a:pt x="669612" y="103466"/>
                  <a:pt x="669612" y="103466"/>
                  <a:pt x="669612" y="103466"/>
                </a:cubicBezTo>
                <a:cubicBezTo>
                  <a:pt x="700266" y="45985"/>
                  <a:pt x="784566" y="0"/>
                  <a:pt x="853538" y="0"/>
                </a:cubicBezTo>
                <a:close/>
              </a:path>
            </a:pathLst>
          </a:custGeom>
          <a:noFill/>
          <a:ln w="50800"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pic>
        <p:nvPicPr>
          <p:cNvPr id="7" name="Picture 6">
            <a:extLst>
              <a:ext uri="{FF2B5EF4-FFF2-40B4-BE49-F238E27FC236}">
                <a16:creationId xmlns:a16="http://schemas.microsoft.com/office/drawing/2014/main" id="{719EB8AE-0EF9-3058-C58C-72071FEAC8BD}"/>
              </a:ext>
            </a:extLst>
          </p:cNvPr>
          <p:cNvPicPr>
            <a:picLocks noChangeAspect="1"/>
          </p:cNvPicPr>
          <p:nvPr/>
        </p:nvPicPr>
        <p:blipFill>
          <a:blip r:embed="rId2"/>
          <a:stretch>
            <a:fillRect/>
          </a:stretch>
        </p:blipFill>
        <p:spPr>
          <a:xfrm>
            <a:off x="5196964" y="1757706"/>
            <a:ext cx="1846470" cy="548950"/>
          </a:xfrm>
          <a:prstGeom prst="rect">
            <a:avLst/>
          </a:prstGeom>
        </p:spPr>
      </p:pic>
      <p:sp>
        <p:nvSpPr>
          <p:cNvPr id="9" name="Content Placeholder 8">
            <a:extLst>
              <a:ext uri="{FF2B5EF4-FFF2-40B4-BE49-F238E27FC236}">
                <a16:creationId xmlns:a16="http://schemas.microsoft.com/office/drawing/2014/main" id="{FAD1686A-B5FC-378E-CBDA-CB88B9B0B4BA}"/>
              </a:ext>
            </a:extLst>
          </p:cNvPr>
          <p:cNvSpPr>
            <a:spLocks noGrp="1"/>
          </p:cNvSpPr>
          <p:nvPr>
            <p:ph idx="1"/>
          </p:nvPr>
        </p:nvSpPr>
        <p:spPr>
          <a:xfrm>
            <a:off x="965199" y="3729161"/>
            <a:ext cx="5690043" cy="2277321"/>
          </a:xfrm>
        </p:spPr>
        <p:txBody>
          <a:bodyPr>
            <a:normAutofit fontScale="92500"/>
          </a:bodyPr>
          <a:lstStyle/>
          <a:p>
            <a:r>
              <a:rPr lang="en-US" sz="1100" dirty="0"/>
              <a:t>This function would read in the datasets which were formatted as a folder containing every jpg.</a:t>
            </a:r>
          </a:p>
          <a:p>
            <a:r>
              <a:rPr lang="en-US" sz="1100" dirty="0"/>
              <a:t>Once read into their variables it would find the length used in the for-loop.</a:t>
            </a:r>
          </a:p>
          <a:p>
            <a:r>
              <a:rPr lang="en-US" sz="1100" dirty="0"/>
              <a:t>In the for-loop it took the images and converted them into row vectors after first turning them into a 64x64x1 matrix.</a:t>
            </a:r>
          </a:p>
          <a:p>
            <a:r>
              <a:rPr lang="en-US" sz="1100" dirty="0"/>
              <a:t>Since the row vectors were all the same length due to the sizes of the images being the same it then read them into the fruits output row vector matrix with each row being a separate image seen as a vector.</a:t>
            </a:r>
          </a:p>
          <a:p>
            <a:r>
              <a:rPr lang="en-US" sz="1100" dirty="0"/>
              <a:t>This image shows the function including only the banana calculations, this same cycle was repeated for apples and oranges in the same function</a:t>
            </a:r>
          </a:p>
          <a:p>
            <a:r>
              <a:rPr lang="en-US" sz="1100" dirty="0"/>
              <a:t>At the end of the function, it converts the matrices into doubles so when calculating the averages, it would be more exact rather than doing integer calculations</a:t>
            </a:r>
          </a:p>
        </p:txBody>
      </p:sp>
      <p:pic>
        <p:nvPicPr>
          <p:cNvPr id="5" name="Content Placeholder 4">
            <a:extLst>
              <a:ext uri="{FF2B5EF4-FFF2-40B4-BE49-F238E27FC236}">
                <a16:creationId xmlns:a16="http://schemas.microsoft.com/office/drawing/2014/main" id="{0FFB2FFC-DDF2-D111-B9E8-8DE908A3A88D}"/>
              </a:ext>
            </a:extLst>
          </p:cNvPr>
          <p:cNvPicPr>
            <a:picLocks noChangeAspect="1"/>
          </p:cNvPicPr>
          <p:nvPr/>
        </p:nvPicPr>
        <p:blipFill>
          <a:blip r:embed="rId3"/>
          <a:stretch>
            <a:fillRect/>
          </a:stretch>
        </p:blipFill>
        <p:spPr>
          <a:xfrm>
            <a:off x="8050038" y="2809571"/>
            <a:ext cx="2713512" cy="1803172"/>
          </a:xfrm>
          <a:prstGeom prst="rect">
            <a:avLst/>
          </a:prstGeom>
        </p:spPr>
      </p:pic>
    </p:spTree>
    <p:extLst>
      <p:ext uri="{BB962C8B-B14F-4D97-AF65-F5344CB8AC3E}">
        <p14:creationId xmlns:p14="http://schemas.microsoft.com/office/powerpoint/2010/main" val="4222161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D4D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508F0D6-AE4B-1E39-72E5-AC5D04B05561}"/>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1600">
                <a:solidFill>
                  <a:srgbClr val="FFFFFF"/>
                </a:solidFill>
              </a:rPr>
              <a:t>MATLAB fruit_vector_average function</a:t>
            </a:r>
          </a:p>
        </p:txBody>
      </p:sp>
      <p:pic>
        <p:nvPicPr>
          <p:cNvPr id="5" name="Content Placeholder 4">
            <a:extLst>
              <a:ext uri="{FF2B5EF4-FFF2-40B4-BE49-F238E27FC236}">
                <a16:creationId xmlns:a16="http://schemas.microsoft.com/office/drawing/2014/main" id="{B52B96D8-F834-E882-62C5-61ECFF701712}"/>
              </a:ext>
            </a:extLst>
          </p:cNvPr>
          <p:cNvPicPr>
            <a:picLocks noChangeAspect="1"/>
          </p:cNvPicPr>
          <p:nvPr/>
        </p:nvPicPr>
        <p:blipFill>
          <a:blip r:embed="rId2"/>
          <a:stretch>
            <a:fillRect/>
          </a:stretch>
        </p:blipFill>
        <p:spPr>
          <a:xfrm>
            <a:off x="4038600" y="1355607"/>
            <a:ext cx="7188199" cy="3006529"/>
          </a:xfrm>
          <a:prstGeom prst="rect">
            <a:avLst/>
          </a:prstGeom>
        </p:spPr>
      </p:pic>
      <p:sp>
        <p:nvSpPr>
          <p:cNvPr id="9" name="Content Placeholder 8">
            <a:extLst>
              <a:ext uri="{FF2B5EF4-FFF2-40B4-BE49-F238E27FC236}">
                <a16:creationId xmlns:a16="http://schemas.microsoft.com/office/drawing/2014/main" id="{EE0C0435-4A8D-6618-EE49-B397BF124E28}"/>
              </a:ext>
            </a:extLst>
          </p:cNvPr>
          <p:cNvSpPr>
            <a:spLocks noGrp="1"/>
          </p:cNvSpPr>
          <p:nvPr>
            <p:ph idx="1"/>
          </p:nvPr>
        </p:nvSpPr>
        <p:spPr>
          <a:xfrm>
            <a:off x="4038600" y="4884873"/>
            <a:ext cx="7188199" cy="1292090"/>
          </a:xfrm>
        </p:spPr>
        <p:txBody>
          <a:bodyPr>
            <a:normAutofit/>
          </a:bodyPr>
          <a:lstStyle/>
          <a:p>
            <a:r>
              <a:rPr lang="en-US" sz="1800" dirty="0"/>
              <a:t>This function took in the matrices created from the previous function and then found the sum of each column and finally output the sum divided by the number of rows to find the average for each vector of the pixels for each image.</a:t>
            </a:r>
          </a:p>
        </p:txBody>
      </p:sp>
    </p:spTree>
    <p:extLst>
      <p:ext uri="{BB962C8B-B14F-4D97-AF65-F5344CB8AC3E}">
        <p14:creationId xmlns:p14="http://schemas.microsoft.com/office/powerpoint/2010/main" val="1396085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AD890-CFCA-DBD1-6754-6D6D3DFF323D}"/>
              </a:ext>
            </a:extLst>
          </p:cNvPr>
          <p:cNvSpPr>
            <a:spLocks noGrp="1"/>
          </p:cNvSpPr>
          <p:nvPr>
            <p:ph type="title"/>
          </p:nvPr>
        </p:nvSpPr>
        <p:spPr/>
        <p:txBody>
          <a:bodyPr/>
          <a:lstStyle/>
          <a:p>
            <a:r>
              <a:rPr lang="en-US" dirty="0"/>
              <a:t>Java </a:t>
            </a:r>
          </a:p>
        </p:txBody>
      </p:sp>
      <p:sp>
        <p:nvSpPr>
          <p:cNvPr id="3" name="Content Placeholder 2">
            <a:extLst>
              <a:ext uri="{FF2B5EF4-FFF2-40B4-BE49-F238E27FC236}">
                <a16:creationId xmlns:a16="http://schemas.microsoft.com/office/drawing/2014/main" id="{1A9500E9-5F2F-C18C-CB49-3194FB86AABD}"/>
              </a:ext>
            </a:extLst>
          </p:cNvPr>
          <p:cNvSpPr>
            <a:spLocks noGrp="1"/>
          </p:cNvSpPr>
          <p:nvPr>
            <p:ph idx="1"/>
          </p:nvPr>
        </p:nvSpPr>
        <p:spPr/>
        <p:txBody>
          <a:bodyPr/>
          <a:lstStyle/>
          <a:p>
            <a:r>
              <a:rPr lang="en-US" dirty="0"/>
              <a:t>The Java portion was used to analyze the image and use image analysis to identify what object was in the picture</a:t>
            </a:r>
          </a:p>
          <a:p>
            <a:r>
              <a:rPr lang="en-US" dirty="0"/>
              <a:t>It contained multiple functions that were called by later code in order to connect the matrices gathered by the </a:t>
            </a:r>
            <a:r>
              <a:rPr lang="en-US" dirty="0" err="1"/>
              <a:t>Matlab</a:t>
            </a:r>
            <a:r>
              <a:rPr lang="en-US" dirty="0"/>
              <a:t> code and the image taken by the Android app.</a:t>
            </a:r>
          </a:p>
        </p:txBody>
      </p:sp>
    </p:spTree>
    <p:extLst>
      <p:ext uri="{BB962C8B-B14F-4D97-AF65-F5344CB8AC3E}">
        <p14:creationId xmlns:p14="http://schemas.microsoft.com/office/powerpoint/2010/main" val="2026971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C63EC0-4D95-5D59-9E28-638E2C044480}"/>
              </a:ext>
            </a:extLst>
          </p:cNvPr>
          <p:cNvPicPr>
            <a:picLocks noChangeAspect="1"/>
          </p:cNvPicPr>
          <p:nvPr/>
        </p:nvPicPr>
        <p:blipFill>
          <a:blip r:embed="rId2"/>
          <a:stretch>
            <a:fillRect/>
          </a:stretch>
        </p:blipFill>
        <p:spPr>
          <a:xfrm>
            <a:off x="6549680" y="0"/>
            <a:ext cx="4934639" cy="6706536"/>
          </a:xfrm>
          <a:prstGeom prst="rect">
            <a:avLst/>
          </a:prstGeom>
        </p:spPr>
      </p:pic>
      <p:sp>
        <p:nvSpPr>
          <p:cNvPr id="6" name="TextBox 5">
            <a:extLst>
              <a:ext uri="{FF2B5EF4-FFF2-40B4-BE49-F238E27FC236}">
                <a16:creationId xmlns:a16="http://schemas.microsoft.com/office/drawing/2014/main" id="{66D2143B-5601-E0DA-91EC-2AA55791CD9E}"/>
              </a:ext>
            </a:extLst>
          </p:cNvPr>
          <p:cNvSpPr txBox="1"/>
          <p:nvPr/>
        </p:nvSpPr>
        <p:spPr>
          <a:xfrm>
            <a:off x="585762" y="2336800"/>
            <a:ext cx="5307038" cy="1200329"/>
          </a:xfrm>
          <a:prstGeom prst="rect">
            <a:avLst/>
          </a:prstGeom>
          <a:noFill/>
        </p:spPr>
        <p:txBody>
          <a:bodyPr wrap="square" rtlCol="0">
            <a:spAutoFit/>
          </a:bodyPr>
          <a:lstStyle/>
          <a:p>
            <a:r>
              <a:rPr lang="en-US" dirty="0"/>
              <a:t>This function in Java takes in a matrix that represents an image and turns it to grayscale. It averages the RGB values and converts that to a grayscale value. This makes analyzing the images more accurate.</a:t>
            </a:r>
          </a:p>
        </p:txBody>
      </p:sp>
    </p:spTree>
    <p:extLst>
      <p:ext uri="{BB962C8B-B14F-4D97-AF65-F5344CB8AC3E}">
        <p14:creationId xmlns:p14="http://schemas.microsoft.com/office/powerpoint/2010/main" val="1819220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9927DD3-7F06-E5C7-C3D1-0945BB530BB9}"/>
              </a:ext>
            </a:extLst>
          </p:cNvPr>
          <p:cNvPicPr>
            <a:picLocks noGrp="1" noChangeAspect="1"/>
          </p:cNvPicPr>
          <p:nvPr>
            <p:ph idx="1"/>
          </p:nvPr>
        </p:nvPicPr>
        <p:blipFill>
          <a:blip r:embed="rId2"/>
          <a:stretch>
            <a:fillRect/>
          </a:stretch>
        </p:blipFill>
        <p:spPr>
          <a:xfrm>
            <a:off x="8221408" y="0"/>
            <a:ext cx="3648584" cy="4258269"/>
          </a:xfrm>
        </p:spPr>
      </p:pic>
      <p:pic>
        <p:nvPicPr>
          <p:cNvPr id="7" name="Picture 6">
            <a:extLst>
              <a:ext uri="{FF2B5EF4-FFF2-40B4-BE49-F238E27FC236}">
                <a16:creationId xmlns:a16="http://schemas.microsoft.com/office/drawing/2014/main" id="{EA72AF98-2241-7CB6-0EAE-381565E17C79}"/>
              </a:ext>
            </a:extLst>
          </p:cNvPr>
          <p:cNvPicPr>
            <a:picLocks noChangeAspect="1"/>
          </p:cNvPicPr>
          <p:nvPr/>
        </p:nvPicPr>
        <p:blipFill>
          <a:blip r:embed="rId3"/>
          <a:stretch>
            <a:fillRect/>
          </a:stretch>
        </p:blipFill>
        <p:spPr>
          <a:xfrm>
            <a:off x="5134877" y="3678029"/>
            <a:ext cx="3086531" cy="2981741"/>
          </a:xfrm>
          <a:prstGeom prst="rect">
            <a:avLst/>
          </a:prstGeom>
        </p:spPr>
      </p:pic>
      <p:sp>
        <p:nvSpPr>
          <p:cNvPr id="8" name="TextBox 7">
            <a:extLst>
              <a:ext uri="{FF2B5EF4-FFF2-40B4-BE49-F238E27FC236}">
                <a16:creationId xmlns:a16="http://schemas.microsoft.com/office/drawing/2014/main" id="{9C0C591E-C61E-D9ED-B1B9-C53AAFBFFA2F}"/>
              </a:ext>
            </a:extLst>
          </p:cNvPr>
          <p:cNvSpPr txBox="1"/>
          <p:nvPr/>
        </p:nvSpPr>
        <p:spPr>
          <a:xfrm flipH="1">
            <a:off x="604519" y="1425645"/>
            <a:ext cx="5135881" cy="1754326"/>
          </a:xfrm>
          <a:prstGeom prst="rect">
            <a:avLst/>
          </a:prstGeom>
          <a:noFill/>
        </p:spPr>
        <p:txBody>
          <a:bodyPr wrap="square" rtlCol="0">
            <a:spAutoFit/>
          </a:bodyPr>
          <a:lstStyle/>
          <a:p>
            <a:r>
              <a:rPr lang="en-US" dirty="0"/>
              <a:t>This Java code combines with Kotlin takes the distances between the grayed matrices to see which image matrix of fruits the taken image is closest to in order to identify the object in frame. This would return an int based on the decision that the code comes to.</a:t>
            </a:r>
          </a:p>
        </p:txBody>
      </p:sp>
    </p:spTree>
    <p:extLst>
      <p:ext uri="{BB962C8B-B14F-4D97-AF65-F5344CB8AC3E}">
        <p14:creationId xmlns:p14="http://schemas.microsoft.com/office/powerpoint/2010/main" val="4130998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A5566-BE51-B0F5-A527-A5673A0F9B42}"/>
              </a:ext>
            </a:extLst>
          </p:cNvPr>
          <p:cNvSpPr>
            <a:spLocks noGrp="1"/>
          </p:cNvSpPr>
          <p:nvPr>
            <p:ph type="title"/>
          </p:nvPr>
        </p:nvSpPr>
        <p:spPr/>
        <p:txBody>
          <a:bodyPr/>
          <a:lstStyle/>
          <a:p>
            <a:r>
              <a:rPr lang="en-US" dirty="0"/>
              <a:t>Kotlin</a:t>
            </a:r>
          </a:p>
        </p:txBody>
      </p:sp>
      <p:sp>
        <p:nvSpPr>
          <p:cNvPr id="4" name="Text Placeholder 3">
            <a:extLst>
              <a:ext uri="{FF2B5EF4-FFF2-40B4-BE49-F238E27FC236}">
                <a16:creationId xmlns:a16="http://schemas.microsoft.com/office/drawing/2014/main" id="{4E1FBBD1-F4DD-3D13-C25F-8462ED25FBC9}"/>
              </a:ext>
            </a:extLst>
          </p:cNvPr>
          <p:cNvSpPr>
            <a:spLocks noGrp="1"/>
          </p:cNvSpPr>
          <p:nvPr>
            <p:ph type="body" sz="half" idx="2"/>
          </p:nvPr>
        </p:nvSpPr>
        <p:spPr/>
        <p:txBody>
          <a:bodyPr/>
          <a:lstStyle/>
          <a:p>
            <a:r>
              <a:rPr lang="en-US" dirty="0"/>
              <a:t>The Kotlin portion of the project was based on the applications of the Camera2 Library in order to create instances of different camera functions which contained both Java and Kotlin Code</a:t>
            </a:r>
          </a:p>
          <a:p>
            <a:endParaRPr lang="en-US" dirty="0"/>
          </a:p>
          <a:p>
            <a:r>
              <a:rPr lang="en-US" dirty="0"/>
              <a:t>Focusing on the </a:t>
            </a:r>
            <a:r>
              <a:rPr lang="en-US" dirty="0" err="1"/>
              <a:t>Kotilin</a:t>
            </a:r>
            <a:r>
              <a:rPr lang="en-US" dirty="0"/>
              <a:t> Code, the majority of the processes are due to the active usage of builders  and providers which are very useful for complex data structures (builders create the data structures and providers access them)</a:t>
            </a:r>
          </a:p>
        </p:txBody>
      </p:sp>
      <p:pic>
        <p:nvPicPr>
          <p:cNvPr id="7" name="Picture 6">
            <a:extLst>
              <a:ext uri="{FF2B5EF4-FFF2-40B4-BE49-F238E27FC236}">
                <a16:creationId xmlns:a16="http://schemas.microsoft.com/office/drawing/2014/main" id="{6758826B-F5C4-B483-0EA4-AAB7BD62CCB9}"/>
              </a:ext>
            </a:extLst>
          </p:cNvPr>
          <p:cNvPicPr>
            <a:picLocks noChangeAspect="1"/>
          </p:cNvPicPr>
          <p:nvPr/>
        </p:nvPicPr>
        <p:blipFill>
          <a:blip r:embed="rId2"/>
          <a:stretch>
            <a:fillRect/>
          </a:stretch>
        </p:blipFill>
        <p:spPr>
          <a:xfrm>
            <a:off x="4772025" y="948972"/>
            <a:ext cx="4002852" cy="4960055"/>
          </a:xfrm>
          <a:prstGeom prst="rect">
            <a:avLst/>
          </a:prstGeom>
        </p:spPr>
      </p:pic>
      <p:sp>
        <p:nvSpPr>
          <p:cNvPr id="8" name="TextBox 7">
            <a:extLst>
              <a:ext uri="{FF2B5EF4-FFF2-40B4-BE49-F238E27FC236}">
                <a16:creationId xmlns:a16="http://schemas.microsoft.com/office/drawing/2014/main" id="{2C34B6A3-C9F4-9A5F-7C67-C6A2E35025B1}"/>
              </a:ext>
            </a:extLst>
          </p:cNvPr>
          <p:cNvSpPr txBox="1"/>
          <p:nvPr/>
        </p:nvSpPr>
        <p:spPr>
          <a:xfrm>
            <a:off x="9245600" y="1148862"/>
            <a:ext cx="2836985" cy="369332"/>
          </a:xfrm>
          <a:prstGeom prst="rect">
            <a:avLst/>
          </a:prstGeom>
          <a:noFill/>
        </p:spPr>
        <p:txBody>
          <a:bodyPr wrap="square" rtlCol="0">
            <a:spAutoFit/>
          </a:bodyPr>
          <a:lstStyle/>
          <a:p>
            <a:r>
              <a:rPr lang="en-US" dirty="0"/>
              <a:t> </a:t>
            </a:r>
          </a:p>
        </p:txBody>
      </p:sp>
      <p:pic>
        <p:nvPicPr>
          <p:cNvPr id="10" name="Picture 9">
            <a:extLst>
              <a:ext uri="{FF2B5EF4-FFF2-40B4-BE49-F238E27FC236}">
                <a16:creationId xmlns:a16="http://schemas.microsoft.com/office/drawing/2014/main" id="{0E798611-CD9A-5BF0-3DD8-F966EE8005A8}"/>
              </a:ext>
            </a:extLst>
          </p:cNvPr>
          <p:cNvPicPr>
            <a:picLocks noChangeAspect="1"/>
          </p:cNvPicPr>
          <p:nvPr/>
        </p:nvPicPr>
        <p:blipFill>
          <a:blip r:embed="rId3"/>
          <a:stretch>
            <a:fillRect/>
          </a:stretch>
        </p:blipFill>
        <p:spPr>
          <a:xfrm>
            <a:off x="8535833" y="1844271"/>
            <a:ext cx="3393732" cy="2579236"/>
          </a:xfrm>
          <a:prstGeom prst="rect">
            <a:avLst/>
          </a:prstGeom>
        </p:spPr>
      </p:pic>
    </p:spTree>
    <p:extLst>
      <p:ext uri="{BB962C8B-B14F-4D97-AF65-F5344CB8AC3E}">
        <p14:creationId xmlns:p14="http://schemas.microsoft.com/office/powerpoint/2010/main" val="2553970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CA682-F55E-C6D0-DDDF-9236037AA116}"/>
              </a:ext>
            </a:extLst>
          </p:cNvPr>
          <p:cNvSpPr>
            <a:spLocks noGrp="1"/>
          </p:cNvSpPr>
          <p:nvPr>
            <p:ph type="title"/>
          </p:nvPr>
        </p:nvSpPr>
        <p:spPr/>
        <p:txBody>
          <a:bodyPr/>
          <a:lstStyle/>
          <a:p>
            <a:r>
              <a:rPr lang="en-US" dirty="0"/>
              <a:t>XML</a:t>
            </a:r>
          </a:p>
        </p:txBody>
      </p:sp>
      <p:sp>
        <p:nvSpPr>
          <p:cNvPr id="4" name="Text Placeholder 3">
            <a:extLst>
              <a:ext uri="{FF2B5EF4-FFF2-40B4-BE49-F238E27FC236}">
                <a16:creationId xmlns:a16="http://schemas.microsoft.com/office/drawing/2014/main" id="{82DCA47F-BC86-5132-595D-DE00C76A9129}"/>
              </a:ext>
            </a:extLst>
          </p:cNvPr>
          <p:cNvSpPr>
            <a:spLocks noGrp="1"/>
          </p:cNvSpPr>
          <p:nvPr>
            <p:ph type="body" sz="half" idx="2"/>
          </p:nvPr>
        </p:nvSpPr>
        <p:spPr/>
        <p:txBody>
          <a:bodyPr/>
          <a:lstStyle/>
          <a:p>
            <a:r>
              <a:rPr lang="en-US" dirty="0"/>
              <a:t>XML Is used for formatting the app in the main layout file as well as setting some predefined constants such as the color and theme. </a:t>
            </a:r>
          </a:p>
          <a:p>
            <a:endParaRPr lang="en-US" dirty="0"/>
          </a:p>
          <a:p>
            <a:r>
              <a:rPr lang="en-US" dirty="0"/>
              <a:t>This is the camera API and the xml file working in tandem in order create the two main aspects of the application. The first the preview which is made to match the screen size of the phone as well as the button which is set to a specific size and is located based on the screen size.</a:t>
            </a:r>
          </a:p>
        </p:txBody>
      </p:sp>
      <p:pic>
        <p:nvPicPr>
          <p:cNvPr id="7" name="Picture 6">
            <a:extLst>
              <a:ext uri="{FF2B5EF4-FFF2-40B4-BE49-F238E27FC236}">
                <a16:creationId xmlns:a16="http://schemas.microsoft.com/office/drawing/2014/main" id="{6764F7C5-949F-DC42-0311-4A07D2257237}"/>
              </a:ext>
            </a:extLst>
          </p:cNvPr>
          <p:cNvPicPr>
            <a:picLocks noChangeAspect="1"/>
          </p:cNvPicPr>
          <p:nvPr/>
        </p:nvPicPr>
        <p:blipFill>
          <a:blip r:embed="rId2"/>
          <a:stretch>
            <a:fillRect/>
          </a:stretch>
        </p:blipFill>
        <p:spPr>
          <a:xfrm>
            <a:off x="6735165" y="599680"/>
            <a:ext cx="4972744" cy="5658640"/>
          </a:xfrm>
          <a:prstGeom prst="rect">
            <a:avLst/>
          </a:prstGeom>
        </p:spPr>
      </p:pic>
    </p:spTree>
    <p:extLst>
      <p:ext uri="{BB962C8B-B14F-4D97-AF65-F5344CB8AC3E}">
        <p14:creationId xmlns:p14="http://schemas.microsoft.com/office/powerpoint/2010/main" val="1748400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TotalTime>
  <Words>635</Words>
  <Application>Microsoft Office PowerPoint</Application>
  <PresentationFormat>Widescreen</PresentationFormat>
  <Paragraphs>31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Project Architecture</vt:lpstr>
      <vt:lpstr>MATLAB general script</vt:lpstr>
      <vt:lpstr>MATLAB read_matrices function</vt:lpstr>
      <vt:lpstr>MATLAB fruit_vector_average function</vt:lpstr>
      <vt:lpstr>Java </vt:lpstr>
      <vt:lpstr>PowerPoint Presentation</vt:lpstr>
      <vt:lpstr>PowerPoint Presentation</vt:lpstr>
      <vt:lpstr>Kotlin</vt:lpstr>
      <vt:lpstr>XML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Architecture</dc:title>
  <dc:creator>Silmberg, Hugo, Alexander</dc:creator>
  <cp:lastModifiedBy>Silmberg, Hugo, Alexander</cp:lastModifiedBy>
  <cp:revision>3</cp:revision>
  <dcterms:created xsi:type="dcterms:W3CDTF">2022-12-12T22:37:22Z</dcterms:created>
  <dcterms:modified xsi:type="dcterms:W3CDTF">2022-12-13T04:44:27Z</dcterms:modified>
</cp:coreProperties>
</file>